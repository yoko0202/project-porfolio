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cf63f9974_1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cf63f9974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22e5312ac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22e5312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22e5312a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22e5312a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eb5c56219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eb5c562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eb5c56219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eb5c5621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eb5c56219_0_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eb5c5621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23773b2e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23773b2e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eb5c56219_0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eb5c5621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eb5c56219_0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eb5c5621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22e5312ac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22e5312a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22e5312a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22e5312a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22e5312ac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522e5312a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23773b2e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23773b2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caf4e4583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caf4e458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Model with offset had higher AIC, so offset was excluded from final models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Full models were fitted with all predictors for both Gamma and Gaussian GLMs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4caf4e4583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4caf4e45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●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Compared Models for Gamma and Gaussian families: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○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○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AIC-reduced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○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BIC-reduced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23773b2e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23773b2e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c6f73a04f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c6f73a04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23773b2e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523773b2e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9BE5D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47.png"/><Relationship Id="rId5" Type="http://schemas.openxmlformats.org/officeDocument/2006/relationships/image" Target="../media/image2.png"/><Relationship Id="rId6" Type="http://schemas.openxmlformats.org/officeDocument/2006/relationships/image" Target="../media/image61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63.png"/><Relationship Id="rId11" Type="http://schemas.openxmlformats.org/officeDocument/2006/relationships/image" Target="../media/image37.png"/><Relationship Id="rId22" Type="http://schemas.openxmlformats.org/officeDocument/2006/relationships/image" Target="../media/image31.png"/><Relationship Id="rId10" Type="http://schemas.openxmlformats.org/officeDocument/2006/relationships/image" Target="../media/image22.png"/><Relationship Id="rId21" Type="http://schemas.openxmlformats.org/officeDocument/2006/relationships/image" Target="../media/image26.png"/><Relationship Id="rId13" Type="http://schemas.openxmlformats.org/officeDocument/2006/relationships/image" Target="../media/image19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2.png"/><Relationship Id="rId9" Type="http://schemas.openxmlformats.org/officeDocument/2006/relationships/image" Target="../media/image27.png"/><Relationship Id="rId15" Type="http://schemas.openxmlformats.org/officeDocument/2006/relationships/image" Target="../media/image16.png"/><Relationship Id="rId14" Type="http://schemas.openxmlformats.org/officeDocument/2006/relationships/image" Target="../media/image20.png"/><Relationship Id="rId17" Type="http://schemas.openxmlformats.org/officeDocument/2006/relationships/image" Target="../media/image39.png"/><Relationship Id="rId16" Type="http://schemas.openxmlformats.org/officeDocument/2006/relationships/image" Target="../media/image23.png"/><Relationship Id="rId5" Type="http://schemas.openxmlformats.org/officeDocument/2006/relationships/image" Target="../media/image24.png"/><Relationship Id="rId19" Type="http://schemas.openxmlformats.org/officeDocument/2006/relationships/image" Target="../media/image33.png"/><Relationship Id="rId6" Type="http://schemas.openxmlformats.org/officeDocument/2006/relationships/image" Target="../media/image8.png"/><Relationship Id="rId18" Type="http://schemas.openxmlformats.org/officeDocument/2006/relationships/image" Target="../media/image30.png"/><Relationship Id="rId7" Type="http://schemas.openxmlformats.org/officeDocument/2006/relationships/image" Target="../media/image18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Relationship Id="rId6" Type="http://schemas.openxmlformats.org/officeDocument/2006/relationships/image" Target="../media/image34.png"/><Relationship Id="rId7" Type="http://schemas.openxmlformats.org/officeDocument/2006/relationships/image" Target="../media/image6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Relationship Id="rId5" Type="http://schemas.openxmlformats.org/officeDocument/2006/relationships/image" Target="../media/image51.png"/><Relationship Id="rId6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9.png"/><Relationship Id="rId4" Type="http://schemas.openxmlformats.org/officeDocument/2006/relationships/image" Target="../media/image57.png"/><Relationship Id="rId5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Relationship Id="rId4" Type="http://schemas.openxmlformats.org/officeDocument/2006/relationships/image" Target="../media/image42.png"/><Relationship Id="rId5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8.png"/><Relationship Id="rId4" Type="http://schemas.openxmlformats.org/officeDocument/2006/relationships/image" Target="../media/image60.png"/><Relationship Id="rId5" Type="http://schemas.openxmlformats.org/officeDocument/2006/relationships/image" Target="../media/image55.png"/><Relationship Id="rId6" Type="http://schemas.openxmlformats.org/officeDocument/2006/relationships/image" Target="../media/image5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gloriafood.com/how-to-improve-food-delivery-service" TargetMode="External"/><Relationship Id="rId4" Type="http://schemas.openxmlformats.org/officeDocument/2006/relationships/hyperlink" Target="https://www.jotform.com/blog/how-to-start-a-food-delivery-business/" TargetMode="External"/><Relationship Id="rId9" Type="http://schemas.openxmlformats.org/officeDocument/2006/relationships/hyperlink" Target="https://spdload.com/blog/food-delivery-trends/" TargetMode="External"/><Relationship Id="rId5" Type="http://schemas.openxmlformats.org/officeDocument/2006/relationships/hyperlink" Target="https://stock.adobe.com/search?k=online+food+delivery" TargetMode="External"/><Relationship Id="rId6" Type="http://schemas.openxmlformats.org/officeDocument/2006/relationships/hyperlink" Target="https://www.latimes.com/food/story/2021-03-03/food-delivery-service-app-fees-restaurants" TargetMode="External"/><Relationship Id="rId7" Type="http://schemas.openxmlformats.org/officeDocument/2006/relationships/hyperlink" Target="https://spdload.com/blog/food-delivery-business-ideas/" TargetMode="External"/><Relationship Id="rId8" Type="http://schemas.openxmlformats.org/officeDocument/2006/relationships/hyperlink" Target="https://www.gloriafood.com/marketing-strategy-for-food-delivery-servi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245400" y="-50"/>
            <a:ext cx="8653200" cy="933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Food Delivery Time Prediction</a:t>
            </a:r>
            <a:endParaRPr b="1" sz="4400">
              <a:solidFill>
                <a:schemeClr val="dk2"/>
              </a:solidFill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0" y="4170600"/>
            <a:ext cx="9144000" cy="972900"/>
          </a:xfrm>
          <a:prstGeom prst="rect">
            <a:avLst/>
          </a:prstGeom>
          <a:solidFill>
            <a:srgbClr val="9BE5D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By Jordan Allwood, Krystal Moore-Gayle, Amily Jabr, </a:t>
            </a:r>
            <a:br>
              <a:rPr lang="en" sz="2200">
                <a:solidFill>
                  <a:schemeClr val="dk2"/>
                </a:solidFill>
              </a:rPr>
            </a:br>
            <a:r>
              <a:rPr lang="en" sz="2200">
                <a:solidFill>
                  <a:schemeClr val="dk2"/>
                </a:solidFill>
              </a:rPr>
              <a:t>Jonathan Gyure, and Jeet Shah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Defining a Business Problem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time where food delivery is very common, determining an accurate delivery time is important for the customer, delivery company, and restaurants.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Speed of delivery is an influential factor when measuring customer satisfaction (ACSI Restaurant and Food Delivery Study, 2024).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research aims to predict the final food delivery time given a range of predictors.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 rotWithShape="1">
          <a:blip r:embed="rId3">
            <a:alphaModFix/>
          </a:blip>
          <a:srcRect b="0" l="1506" r="0" t="0"/>
          <a:stretch/>
        </p:blipFill>
        <p:spPr>
          <a:xfrm>
            <a:off x="0" y="0"/>
            <a:ext cx="4912324" cy="30226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type="title"/>
          </p:nvPr>
        </p:nvSpPr>
        <p:spPr>
          <a:xfrm>
            <a:off x="460950" y="3547225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Data Collection/Preparation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2325" y="0"/>
            <a:ext cx="4231675" cy="3022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Data Description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0" y="1984200"/>
            <a:ext cx="4777500" cy="28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Simulated data set obtained from Kaggle.com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1000 observations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Response</a:t>
            </a:r>
            <a:r>
              <a:rPr b="1" lang="en"/>
              <a:t> Variable: Delivery Time (min)</a:t>
            </a:r>
            <a:r>
              <a:rPr lang="en"/>
              <a:t>; continuous</a:t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Explanatory</a:t>
            </a:r>
            <a:r>
              <a:rPr b="1" lang="en"/>
              <a:t> Variables:</a:t>
            </a:r>
            <a:endParaRPr b="1"/>
          </a:p>
          <a:p>
            <a:pPr indent="-3048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Preparation Time (min), Distance (km)</a:t>
            </a:r>
            <a:r>
              <a:rPr lang="en"/>
              <a:t>; continuous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Order ID</a:t>
            </a:r>
            <a:r>
              <a:rPr lang="en"/>
              <a:t>; discrete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Weather, Vehicle Type, Time of Day</a:t>
            </a:r>
            <a:r>
              <a:rPr lang="en"/>
              <a:t>; nominal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○"/>
            </a:pPr>
            <a:r>
              <a:rPr b="1" lang="en"/>
              <a:t>Courier Experience (yrs), Traffic Level</a:t>
            </a:r>
            <a:r>
              <a:rPr lang="en"/>
              <a:t>; ordinal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075" y="2323075"/>
            <a:ext cx="4144976" cy="140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Cleaning the Data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71900" y="1919075"/>
            <a:ext cx="5828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Deleted rows that contained blank/NA values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Checked for duplicate observations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Checked for suspicious observations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Removed unnecessary variable: </a:t>
            </a:r>
            <a:r>
              <a:rPr b="1" lang="en"/>
              <a:t>Order ID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Factor conversion 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73" y="3949048"/>
            <a:ext cx="5212774" cy="10674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96075" y="3578925"/>
            <a:ext cx="224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Relevel Factor Variables </a:t>
            </a:r>
            <a:endParaRPr i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9067" y="2306325"/>
            <a:ext cx="3594583" cy="27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5499075" y="1919075"/>
            <a:ext cx="2948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Binarization of Variables</a:t>
            </a:r>
            <a:endParaRPr i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59500" y="866875"/>
            <a:ext cx="4064700" cy="198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Exploratory Data Analysis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825" y="0"/>
            <a:ext cx="4932174" cy="3313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8125" y="3291564"/>
            <a:ext cx="4239949" cy="1851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Transformation of Target Variable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700875" y="4436300"/>
            <a:ext cx="3464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Original </a:t>
            </a:r>
            <a:endParaRPr b="1"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5073725" y="4436275"/>
            <a:ext cx="35166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Square Root Transformation</a:t>
            </a:r>
            <a:endParaRPr b="1"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775" y="1812821"/>
            <a:ext cx="3931524" cy="2427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975" y="1781912"/>
            <a:ext cx="3852376" cy="23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24025" y="140800"/>
            <a:ext cx="3212100" cy="12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Relationships Between Numeric Predictors and Target Variable</a:t>
            </a:r>
            <a:endParaRPr sz="2300">
              <a:solidFill>
                <a:schemeClr val="dk2"/>
              </a:solidFill>
            </a:endParaRPr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0" y="1553100"/>
            <a:ext cx="31044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Delivery Time and Distance: 0.7959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Delivery Time and Preparation Time: 0.3092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Distance and Preparation Time: -0.0275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075" y="357800"/>
            <a:ext cx="3104276" cy="2046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8550" y="616125"/>
            <a:ext cx="2625450" cy="1618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9325" y="3041075"/>
            <a:ext cx="2766350" cy="151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7009" y="3041075"/>
            <a:ext cx="2756416" cy="15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230013" y="0"/>
            <a:ext cx="87381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Identifying Significant Categorical Predictors</a:t>
            </a:r>
            <a:endParaRPr b="1" sz="2900">
              <a:solidFill>
                <a:schemeClr val="dk2"/>
              </a:solidFill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5" y="684275"/>
            <a:ext cx="2882326" cy="19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7900" y="684277"/>
            <a:ext cx="2882326" cy="19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1675" y="684300"/>
            <a:ext cx="2882326" cy="194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3275" y="2997125"/>
            <a:ext cx="2983452" cy="19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49450" y="2997126"/>
            <a:ext cx="2983475" cy="194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Identifying Significant Categorical Predictors</a:t>
            </a:r>
            <a:endParaRPr b="1" sz="2500">
              <a:solidFill>
                <a:schemeClr val="dk2"/>
              </a:solidFill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413" y="781550"/>
            <a:ext cx="2793549" cy="49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0413" y="1258361"/>
            <a:ext cx="2793550" cy="4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0413" y="1706379"/>
            <a:ext cx="2793550" cy="462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0413" y="2168924"/>
            <a:ext cx="2793549" cy="43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/>
          <p:nvPr/>
        </p:nvSpPr>
        <p:spPr>
          <a:xfrm>
            <a:off x="1983233" y="797579"/>
            <a:ext cx="1395000" cy="18072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2020714" y="2160412"/>
            <a:ext cx="1320000" cy="41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0413" y="2659325"/>
            <a:ext cx="2793549" cy="43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0413" y="3093277"/>
            <a:ext cx="2793550" cy="40023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/>
          <p:nvPr/>
        </p:nvSpPr>
        <p:spPr>
          <a:xfrm>
            <a:off x="1995968" y="2659325"/>
            <a:ext cx="1320000" cy="8343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40413" y="3548175"/>
            <a:ext cx="2784745" cy="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40413" y="3929675"/>
            <a:ext cx="2784746" cy="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40413" y="4311175"/>
            <a:ext cx="2793551" cy="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37112" y="784850"/>
            <a:ext cx="3141274" cy="54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037113" y="1283500"/>
            <a:ext cx="3141275" cy="4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/>
          <p:nvPr/>
        </p:nvSpPr>
        <p:spPr>
          <a:xfrm>
            <a:off x="2058238" y="3548175"/>
            <a:ext cx="1320000" cy="11445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1995964" y="2667512"/>
            <a:ext cx="1320000" cy="41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037115" y="2929602"/>
            <a:ext cx="3166472" cy="40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037112" y="4725900"/>
            <a:ext cx="3166474" cy="4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037115" y="1818300"/>
            <a:ext cx="3166472" cy="372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037115" y="2189236"/>
            <a:ext cx="3166472" cy="40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037115" y="2574577"/>
            <a:ext cx="3166471" cy="3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037115" y="3313406"/>
            <a:ext cx="3166472" cy="372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037115" y="3680226"/>
            <a:ext cx="3166473" cy="3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037112" y="4035250"/>
            <a:ext cx="3166474" cy="3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037112" y="4382050"/>
            <a:ext cx="3166474" cy="35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2"/>
          <p:cNvSpPr/>
          <p:nvPr/>
        </p:nvSpPr>
        <p:spPr>
          <a:xfrm>
            <a:off x="6411313" y="1809557"/>
            <a:ext cx="1395000" cy="33339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6305088" y="781550"/>
            <a:ext cx="1463700" cy="9645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283503" y="107375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Interaction Testing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48175" y="1185975"/>
            <a:ext cx="3091500" cy="3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High traffic amplifies the effect of longer distances on delivery time</a:t>
            </a:r>
            <a:endParaRPr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Snowy conditions interact with distance to worsen delivery times—due to reduced speed/safety</a:t>
            </a:r>
            <a:endParaRPr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Traffic is only impactful when deliveries happen during busy daytime hours</a:t>
            </a:r>
            <a:endParaRPr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When weather is already bad, traffic level doesn't further worsen things</a:t>
            </a:r>
            <a:endParaRPr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Weather has different effects depending on vehicle type—scooters are more vulnerable to weather disruptions</a:t>
            </a:r>
            <a:endParaRPr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Most sensitive pairs- Distance × Traffic, Weather × Distance, and Vehicle × Weather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73" name="Google Shape;1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1500" y="0"/>
            <a:ext cx="2971427" cy="1835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2575" y="8"/>
            <a:ext cx="2971427" cy="1835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1500" y="1835925"/>
            <a:ext cx="2971427" cy="183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2750" y="1860763"/>
            <a:ext cx="2891074" cy="1786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89223" y="3647000"/>
            <a:ext cx="2422101" cy="14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625" y="2668050"/>
            <a:ext cx="4684374" cy="242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4459626" cy="297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4"/>
          <p:cNvSpPr txBox="1"/>
          <p:nvPr>
            <p:ph type="title"/>
          </p:nvPr>
        </p:nvSpPr>
        <p:spPr>
          <a:xfrm>
            <a:off x="-1881237" y="3168913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Model Building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2865638" y="1414163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And Analysis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Backward Selection - AIC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91" name="Google Shape;191;p25"/>
          <p:cNvSpPr txBox="1"/>
          <p:nvPr>
            <p:ph idx="1" type="body"/>
          </p:nvPr>
        </p:nvSpPr>
        <p:spPr>
          <a:xfrm>
            <a:off x="0" y="1465800"/>
            <a:ext cx="3034200" cy="3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Full Model: 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27 predictors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Performance Metric:</a:t>
            </a:r>
            <a:endParaRPr sz="1600">
              <a:solidFill>
                <a:schemeClr val="dk2"/>
              </a:solidFill>
            </a:endParaRPr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</a:pPr>
            <a:r>
              <a:rPr lang="en" sz="1600">
                <a:solidFill>
                  <a:schemeClr val="dk2"/>
                </a:solidFill>
              </a:rPr>
              <a:t>RMSE: 0.6714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Backward Selected Model: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6 predictors removed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Performance Metric:</a:t>
            </a:r>
            <a:endParaRPr sz="1600">
              <a:solidFill>
                <a:schemeClr val="dk2"/>
              </a:solidFill>
            </a:endParaRPr>
          </a:p>
          <a:p>
            <a:pPr indent="-3302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</a:pPr>
            <a:r>
              <a:rPr lang="en" sz="1600">
                <a:solidFill>
                  <a:schemeClr val="dk2"/>
                </a:solidFill>
              </a:rPr>
              <a:t>RMSE: 0.6688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3464725" y="129725"/>
            <a:ext cx="55266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model_full &lt;- lm(Delivery_Time_min ~ . + Traffic_Level.High:Distance_km + Weather.Snowy:Distance_km + Traffic_Level.Low:Time_of_Day.Night +Vehicle_Type.Scooter:Weather.Rainy + Traffic_Level.Low:Weather.Foggy, data = data_train)</a:t>
            </a:r>
            <a:endParaRPr sz="1200"/>
          </a:p>
        </p:txBody>
      </p:sp>
      <p:pic>
        <p:nvPicPr>
          <p:cNvPr id="193" name="Google Shape;19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600" y="1541725"/>
            <a:ext cx="4901426" cy="3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/>
        </p:nvSpPr>
        <p:spPr>
          <a:xfrm>
            <a:off x="4202925" y="1214325"/>
            <a:ext cx="3145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oboto"/>
                <a:ea typeface="Roboto"/>
                <a:cs typeface="Roboto"/>
                <a:sym typeface="Roboto"/>
              </a:rPr>
              <a:t>Backward Selected Model Summary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Forward</a:t>
            </a:r>
            <a:r>
              <a:rPr b="1" lang="en">
                <a:solidFill>
                  <a:schemeClr val="dk2"/>
                </a:solidFill>
              </a:rPr>
              <a:t> Selection - AIC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200" name="Google Shape;200;p26"/>
          <p:cNvSpPr txBox="1"/>
          <p:nvPr>
            <p:ph idx="1" type="body"/>
          </p:nvPr>
        </p:nvSpPr>
        <p:spPr>
          <a:xfrm>
            <a:off x="0" y="1465800"/>
            <a:ext cx="30342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Null Model: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Performance Metric: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RMSE: 1.4108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Forward Selected Model: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Removed 10 predictors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Performance metric: </a:t>
            </a:r>
            <a:endParaRPr sz="1400">
              <a:solidFill>
                <a:schemeClr val="dk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RMSE: 0.6681</a:t>
            </a:r>
            <a:endParaRPr sz="1400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Best performing model out of the four options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201" name="Google Shape;20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300" y="1234275"/>
            <a:ext cx="4941099" cy="36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6"/>
          <p:cNvSpPr txBox="1"/>
          <p:nvPr/>
        </p:nvSpPr>
        <p:spPr>
          <a:xfrm>
            <a:off x="3772300" y="854300"/>
            <a:ext cx="3145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oboto"/>
                <a:ea typeface="Roboto"/>
                <a:cs typeface="Roboto"/>
                <a:sym typeface="Roboto"/>
              </a:rPr>
              <a:t>Forward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 Selected Model Summary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Forward Selected model - Model Diagnostics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0" y="1465800"/>
            <a:ext cx="30342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Model Assumption Violations:</a:t>
            </a:r>
            <a:endParaRPr sz="1300">
              <a:solidFill>
                <a:schemeClr val="dk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lang="en" sz="1300">
                <a:solidFill>
                  <a:schemeClr val="dk2"/>
                </a:solidFill>
              </a:rPr>
              <a:t>Homoscedasticity </a:t>
            </a:r>
            <a:endParaRPr sz="1300">
              <a:solidFill>
                <a:schemeClr val="dk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lang="en" sz="1300">
                <a:solidFill>
                  <a:schemeClr val="dk2"/>
                </a:solidFill>
              </a:rPr>
              <a:t>Normality </a:t>
            </a:r>
            <a:endParaRPr sz="1300">
              <a:solidFill>
                <a:schemeClr val="dk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</a:pPr>
            <a:r>
              <a:rPr lang="en" sz="1300">
                <a:solidFill>
                  <a:schemeClr val="dk2"/>
                </a:solidFill>
              </a:rPr>
              <a:t>Linearity 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Durbin-Watson test indicated no violation of independence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VIF values indicated no violation of multicollinearity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Contains insignificant p-values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Outliers were checked and all observations were plausible 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209" name="Google Shape;2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175" y="185425"/>
            <a:ext cx="2808001" cy="184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4225" y="172900"/>
            <a:ext cx="2873825" cy="184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793" y="4415220"/>
            <a:ext cx="3138750" cy="6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7"/>
          <p:cNvSpPr txBox="1"/>
          <p:nvPr/>
        </p:nvSpPr>
        <p:spPr>
          <a:xfrm>
            <a:off x="7940000" y="4538750"/>
            <a:ext cx="120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2D2D2D"/>
                </a:solidFill>
                <a:latin typeface="Roboto"/>
                <a:ea typeface="Roboto"/>
                <a:cs typeface="Roboto"/>
                <a:sym typeface="Roboto"/>
              </a:rPr>
              <a:t>Durbin-Watson Test</a:t>
            </a:r>
            <a:endParaRPr i="1" sz="700">
              <a:solidFill>
                <a:srgbClr val="2D2D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2107" y="2729675"/>
            <a:ext cx="5210774" cy="13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 txBox="1"/>
          <p:nvPr/>
        </p:nvSpPr>
        <p:spPr>
          <a:xfrm>
            <a:off x="3652100" y="2442800"/>
            <a:ext cx="18435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2D2D2D"/>
                </a:solidFill>
                <a:latin typeface="Roboto"/>
                <a:ea typeface="Roboto"/>
                <a:cs typeface="Roboto"/>
                <a:sym typeface="Roboto"/>
              </a:rPr>
              <a:t>VIF Values</a:t>
            </a:r>
            <a:endParaRPr i="1" sz="1200">
              <a:solidFill>
                <a:srgbClr val="2D2D2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2D2D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Ridge and Lasso Model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220" name="Google Shape;220;p2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Lasso has a</a:t>
            </a:r>
            <a:r>
              <a:rPr lang="en">
                <a:solidFill>
                  <a:schemeClr val="dk2"/>
                </a:solidFill>
              </a:rPr>
              <a:t> smaller lambda- model is using light regularization and performs better with less shrinkage</a:t>
            </a:r>
            <a:endParaRPr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Lasso model's MSE is slightly lower suggesting that it is more accurate on the test set than ridge</a:t>
            </a:r>
            <a:endParaRPr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Ridge Model is better for predictions so that would be the better of the two models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21" name="Google Shape;2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650" y="85225"/>
            <a:ext cx="3433200" cy="73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3700" y="866100"/>
            <a:ext cx="3433101" cy="212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3650" y="2987300"/>
            <a:ext cx="3433206" cy="212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Generalized Linear Model 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229" name="Google Shape;229;p29"/>
          <p:cNvSpPr txBox="1"/>
          <p:nvPr>
            <p:ph idx="1" type="body"/>
          </p:nvPr>
        </p:nvSpPr>
        <p:spPr>
          <a:xfrm>
            <a:off x="226075" y="1465800"/>
            <a:ext cx="3012300" cy="3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Tested Link Functions:</a:t>
            </a:r>
            <a:endParaRPr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>
                <a:solidFill>
                  <a:schemeClr val="dk2"/>
                </a:solidFill>
              </a:rPr>
              <a:t>Gamma &amp; Gaussian</a:t>
            </a:r>
            <a:endParaRPr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No offset (Distance_km) used due to poor preliminary results</a:t>
            </a:r>
            <a:endParaRPr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Used stepwise forward selection from a null model</a:t>
            </a:r>
            <a:endParaRPr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>
                <a:solidFill>
                  <a:schemeClr val="dk2"/>
                </a:solidFill>
              </a:rPr>
              <a:t>AIC and BIC separately</a:t>
            </a:r>
            <a:endParaRPr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>
                <a:solidFill>
                  <a:schemeClr val="dk2"/>
                </a:solidFill>
              </a:rPr>
              <a:t>glm(formula = Delivery_Time_min ~ Distance_km + Preparation_Time_min + Traffic_Level.Low + Weather.Foggy + Weather.Snowy + Traffic_Level.High + Weather.Rainy + Courier_Experience_yrs.0, family = Gamma(link = "log"), data = data_train)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30" name="Google Shape;230;p29"/>
          <p:cNvPicPr preferRelativeResize="0"/>
          <p:nvPr/>
        </p:nvPicPr>
        <p:blipFill rotWithShape="1">
          <a:blip r:embed="rId3">
            <a:alphaModFix/>
          </a:blip>
          <a:srcRect b="0" l="0" r="0" t="10321"/>
          <a:stretch/>
        </p:blipFill>
        <p:spPr>
          <a:xfrm>
            <a:off x="6185275" y="3017650"/>
            <a:ext cx="2394574" cy="175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9"/>
          <p:cNvPicPr preferRelativeResize="0"/>
          <p:nvPr/>
        </p:nvPicPr>
        <p:blipFill rotWithShape="1">
          <a:blip r:embed="rId4">
            <a:alphaModFix/>
          </a:blip>
          <a:srcRect b="9123" l="0" r="0" t="0"/>
          <a:stretch/>
        </p:blipFill>
        <p:spPr>
          <a:xfrm>
            <a:off x="3865100" y="311375"/>
            <a:ext cx="4593275" cy="26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9"/>
          <p:cNvPicPr preferRelativeResize="0"/>
          <p:nvPr/>
        </p:nvPicPr>
        <p:blipFill rotWithShape="1">
          <a:blip r:embed="rId5">
            <a:alphaModFix/>
          </a:blip>
          <a:srcRect b="0" l="0" r="0" t="14390"/>
          <a:stretch/>
        </p:blipFill>
        <p:spPr>
          <a:xfrm>
            <a:off x="3865100" y="3017650"/>
            <a:ext cx="2394575" cy="175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Generalized</a:t>
            </a:r>
            <a:r>
              <a:rPr b="1" lang="en">
                <a:solidFill>
                  <a:schemeClr val="dk2"/>
                </a:solidFill>
              </a:rPr>
              <a:t> </a:t>
            </a:r>
            <a:r>
              <a:rPr b="1" lang="en">
                <a:solidFill>
                  <a:schemeClr val="dk2"/>
                </a:solidFill>
              </a:rPr>
              <a:t>Linear Model 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625" y="758750"/>
            <a:ext cx="3391076" cy="20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3175" y="771450"/>
            <a:ext cx="3391076" cy="2095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625" y="2994100"/>
            <a:ext cx="3282821" cy="202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3171" y="3019493"/>
            <a:ext cx="3190358" cy="197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</a:rPr>
              <a:t>Model Assumptions - Violations</a:t>
            </a:r>
            <a:endParaRPr/>
          </a:p>
        </p:txBody>
      </p:sp>
      <p:sp>
        <p:nvSpPr>
          <p:cNvPr id="247" name="Google Shape;247;p3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Evaluated whether our models met key assumptions such as linearity, normality of residuals, and homoscedasticity.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Diagnostic Plots for the GLM indicated curvature and spread in the residuals.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chemeClr val="dk2"/>
                </a:solidFill>
              </a:rPr>
              <a:t>Particularly in the Scale-Location and Q-Q Plots.</a:t>
            </a:r>
            <a:endParaRPr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title"/>
          </p:nvPr>
        </p:nvSpPr>
        <p:spPr>
          <a:xfrm>
            <a:off x="219375" y="4547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53" name="Google Shape;253;p32"/>
          <p:cNvSpPr txBox="1"/>
          <p:nvPr>
            <p:ph idx="1" type="subTitle"/>
          </p:nvPr>
        </p:nvSpPr>
        <p:spPr>
          <a:xfrm>
            <a:off x="259725" y="2024106"/>
            <a:ext cx="4045200" cy="20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models had similar RMSE (~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0.618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indicating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performance improvement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Likely causes: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multicollinearity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dimensionality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step: PCA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reduce dimensionality and remove redundancy.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simplify the model, reduce overfitting, and improve prediction.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71100"/>
            <a:ext cx="4571999" cy="3092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https://www.gloriafood.com/how-to-improve-food-delivery-service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https://www.jotform.com/blog/how-to-start-a-food-delivery-business/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https://stock.adobe.com/search?k=online+food+delivery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https://www.latimes.com/food/story/2021-03-03/food-delivery-service-app-fees-restaurants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https://spdload.com/blog/food-delivery-business-ideas/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https://www.gloriafood.com/marketing-strategy-for-food-delivery-service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https://spdload.com/blog/food-delivery-trends/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